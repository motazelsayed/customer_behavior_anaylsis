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itter SemiBold"/>
      <p:regular r:id="rId201314"/>
    </p:embeddedFont>
    <p:embeddedFont>
      <p:font typeface="Bitter"/>
      <p:regular r:id="rId201315"/>
    </p:embeddedFont>
    <p:embeddedFont>
      <p:font typeface="Bitter Bold"/>
      <p:regular r:id="rId201316"/>
    </p:embeddedFont>
    <p:embeddedFont>
      <p:font typeface="Jost"/>
      <p:regular r:id="rId201317"/>
    </p:embeddedFont>
    <p:embeddedFont>
      <p:font typeface="Jo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scope first: this analysis covers 3,900 purchases and 18 fields, with customer, product, and shopping-behavior variables. The objective is to identify patterns that can guide commercial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action set. The analysis points toward subscription benefits, loyalty rewards, disciplined discounting, stronger product positioning, and targeting based on the highest-value customer and transaction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81782"/>
            <a:ext cx="68223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ANALYTICS / PROJECT READOUT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41438"/>
            <a:ext cx="6212724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Customer Shopping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Behavior Analysis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5278438"/>
            <a:ext cx="621272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Transactional evidence translated into customer segments, product preferences, subscription behavior, and business actions.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88983" y="0"/>
            <a:ext cx="4302712" cy="685800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8244574" y="1787624"/>
            <a:ext cx="39471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44574" y="2133005"/>
            <a:ext cx="3947121" cy="817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3,900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44574" y="3109615"/>
            <a:ext cx="39471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purchases analyzed across 18 columns.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44574" y="3561655"/>
            <a:ext cx="3591530" cy="1905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244574" y="3783905"/>
            <a:ext cx="39471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QUALITY CHECK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44574" y="4129286"/>
            <a:ext cx="394712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44574" y="4821436"/>
            <a:ext cx="39471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missing values in Review Rating.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DATA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Clean data before asking business questions.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9403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workflow moved from Python preparation into PostgreSQL analysis.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01627"/>
          <a:ext cx="6309262" cy="914400"/>
        </p:xfrm>
        <a:graphic>
          <a:graphicData uri="http://schemas.openxmlformats.org/drawingml/2006/table">
            <a:tbl>
              <a:tblPr/>
              <a:tblGrid>
                <a:gridCol w="1766546"/>
                <a:gridCol w="454271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Preparation step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Action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Missing data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Imputed Review Rating values using the median rating of each product category.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Standardization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Renamed columns to snake case for readability and documentation.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Features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Created age_group by binning customer ages; created purchase_frequency_days from purchase data.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Consistency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Checked whether discount_applied and promo_code_used were redundant; dropped promo_code_used.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5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Integration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Connected the Python script to PostgreSQL and loaded the cleaned DataFrame into the database for SQL analysis.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75936" y="2492177"/>
            <a:ext cx="42061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SQL QUESTION 01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75936" y="2751832"/>
            <a:ext cx="42061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Revenue by gender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936" y="3136007"/>
            <a:ext cx="4206174" cy="22833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5936" y="5492353"/>
            <a:ext cx="42061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Total revenue generated by male vs. female customers.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095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14346" y="6466086"/>
            <a:ext cx="67734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DISCOUNT BEHAVIOR / PRODUCT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Discounts do not prevent high-value purchases.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5257668" cy="3429992"/>
          </a:xfrm>
          <a:prstGeom prst="roundRect">
            <a:avLst>
              <a:gd name="adj" fmla="val 333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8027" y="2615505"/>
            <a:ext cx="49592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HIGH-SPENDING DISCOUNT USERS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08027" y="2875161"/>
            <a:ext cx="46607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Discount users can still spend above the average purchase amount.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8027" y="3560961"/>
            <a:ext cx="4660783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who used discounts were identified where purchase amounts remained above the average. This creates a clear audience for targeted promotions rather than blanket discounting.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8027" y="4705548"/>
            <a:ext cx="4660684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9" name="Text 7"/>
          <p:cNvSpPr/>
          <p:nvPr/>
        </p:nvSpPr>
        <p:spPr>
          <a:xfrm>
            <a:off x="908027" y="4873823"/>
            <a:ext cx="49592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Business question: which discount users retain strong purchase value?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24442" y="2545655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5 PRODUCTS BY RATING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2837061"/>
          <a:ext cx="5257669" cy="914400"/>
        </p:xfrm>
        <a:graphic>
          <a:graphicData uri="http://schemas.openxmlformats.org/drawingml/2006/table">
            <a:tbl>
              <a:tblPr/>
              <a:tblGrid>
                <a:gridCol w="2891698"/>
                <a:gridCol w="236597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Item purchased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Average product rating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Gloves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Sandals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3.84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Boots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3.82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3.80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Skirt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3.78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24442" y="5331817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Highest average review ratings in the analyzed product set.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95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11171" y="6466086"/>
            <a:ext cx="68052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TRANSACTION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Shipping, subscriptions, and discounts reveal different levers.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3454314" cy="3115965"/>
          </a:xfrm>
          <a:prstGeom prst="roundRect">
            <a:avLst>
              <a:gd name="adj" fmla="val 367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SHIPPING TYPE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29" y="2824361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Express is higher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3230761"/>
            <a:ext cx="320667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60.48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7229" y="3868936"/>
            <a:ext cx="29590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purchase amount for Express shipping.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7229" y="4471392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Standard: 58.46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8691" y="2317055"/>
            <a:ext cx="3454314" cy="3115965"/>
          </a:xfrm>
          <a:prstGeom prst="roundRect">
            <a:avLst>
              <a:gd name="adj" fmla="val 367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6335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SUBSCRIPTION STATUS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6335" y="2824361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Spend is nearly level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6335" y="3230761"/>
            <a:ext cx="320667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59.87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6335" y="3868936"/>
            <a:ext cx="32066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spend for non-subscribers.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6335" y="4222552"/>
            <a:ext cx="29590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Subscribers: 59.49 · Revenue: $62,645 vs. $170,436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7797" y="2317055"/>
            <a:ext cx="3454314" cy="3115965"/>
          </a:xfrm>
          <a:prstGeom prst="roundRect">
            <a:avLst>
              <a:gd name="adj" fmla="val 367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440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DISCOUNT-DEPENDENT PRODUCTS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5440" y="2824361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products lead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75440" y="3230761"/>
          <a:ext cx="2959026" cy="914400"/>
        </p:xfrm>
        <a:graphic>
          <a:graphicData uri="http://schemas.openxmlformats.org/drawingml/2006/table">
            <a:tbl>
              <a:tblPr/>
              <a:tblGrid>
                <a:gridCol w="1893741"/>
                <a:gridCol w="1065285"/>
              </a:tblGrid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50.00%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Sneakers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49.66%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Coat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49.07%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Sweater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48.17%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Pants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47.37%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095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509385" y="6466086"/>
            <a:ext cx="6823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39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CUSTOMER AND CATEGORY 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5430404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Most customers are already loyal.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543040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Purchase history creates three practical segments for activation and retention.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73487"/>
          <a:ext cx="5430404" cy="914400"/>
        </p:xfrm>
        <a:graphic>
          <a:graphicData uri="http://schemas.openxmlformats.org/drawingml/2006/table">
            <a:tbl>
              <a:tblPr/>
              <a:tblGrid>
                <a:gridCol w="3258242"/>
                <a:gridCol w="217216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Customer segment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Number of customers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Loyal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3,116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Returning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701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New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83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727674"/>
            <a:ext cx="6039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Segments are based on purchase history.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16248" y="967482"/>
            <a:ext cx="447544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3 PRODUCTS PER CATEGORY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16248" y="1312863"/>
          <a:ext cx="3865863" cy="914400"/>
        </p:xfrm>
        <a:graphic>
          <a:graphicData uri="http://schemas.openxmlformats.org/drawingml/2006/table">
            <a:tbl>
              <a:tblPr/>
              <a:tblGrid>
                <a:gridCol w="1256734"/>
                <a:gridCol w="1243495"/>
                <a:gridCol w="821431"/>
                <a:gridCol w="544203"/>
              </a:tblGrid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Category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Products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Top order count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Accessories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Jewelry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Sunglasses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Belt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171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Clothing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Blouse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Pants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Shirt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171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171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169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Footwear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Sandals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Shoes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Sneakers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160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150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145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Outerwear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Jacket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Coat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16248" y="5703888"/>
            <a:ext cx="447544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Most purchased products within each category.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095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15635" y="6466086"/>
            <a:ext cx="6760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3554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RETENTION AND REVENUE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5625959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Repeat buyers are a sizeable subscription audience.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933005"/>
            <a:ext cx="562595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Customers with more than five purchases were checked for subscription behavior.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618805"/>
          <a:ext cx="5625959" cy="914400"/>
        </p:xfrm>
        <a:graphic>
          <a:graphicData uri="http://schemas.openxmlformats.org/drawingml/2006/table">
            <a:tbl>
              <a:tblPr/>
              <a:tblGrid>
                <a:gridCol w="3375516"/>
                <a:gridCol w="225044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Subscription status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Repeat buyers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Yes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958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No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2,518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975721"/>
            <a:ext cx="623554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Repeat buyers are defined here as customers with &gt;5 purchases.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11902" y="1922463"/>
            <a:ext cx="427979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BY AGE GROUP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902" y="2267843"/>
            <a:ext cx="3670208" cy="22214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11902" y="4562277"/>
            <a:ext cx="367020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Young Adult customers contribute the highest total revenue among the four age groups.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095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08988" y="6466086"/>
            <a:ext cx="68270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36266"/>
            <a:ext cx="34975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DECISION INTERFACE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495921"/>
            <a:ext cx="2887987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Dashboard in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Power BI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578721"/>
            <a:ext cx="2887987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 interactive dashboard presents the insights visually and gives users a single view across customer, category, subscription, and age-group measures.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5026124"/>
            <a:ext cx="2887888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5248374"/>
            <a:ext cx="288798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Filters include Subscription Status, Gender, Category, Shipping Type, and purchase timing.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64246" y="0"/>
            <a:ext cx="7627449" cy="6858000"/>
          </a:xfrm>
          <a:prstGeom prst="rect">
            <a:avLst/>
          </a:prstGeom>
          <a:noFill/>
          <a:ln w="19050">
            <a:solidFill>
              <a:srgbClr val="3029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3295" y="19050"/>
            <a:ext cx="7589350" cy="64123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5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19604" y="6466086"/>
            <a:ext cx="67209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BUSINESS RESPONSE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Turn observed behavior into five focused actions.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565995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691705"/>
            <a:ext cx="19505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Boost subscriptions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377505"/>
            <a:ext cx="195059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Promote exclusive benefits for subscribers.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64969" y="2317055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64969" y="2565995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2691705"/>
            <a:ext cx="195069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 loyalty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64969" y="3098105"/>
            <a:ext cx="195069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Reward repeat buyers to move them into the Loyal segment.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452" y="2317055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452" y="2565995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452" y="2691705"/>
            <a:ext cx="195069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Review discount policy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452" y="3377505"/>
            <a:ext cx="195069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Balance sales boosts with margin control.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75936" y="2317055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75936" y="2565995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8" name="Text 16"/>
          <p:cNvSpPr/>
          <p:nvPr/>
        </p:nvSpPr>
        <p:spPr>
          <a:xfrm>
            <a:off x="7375936" y="2691705"/>
            <a:ext cx="195069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Position products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75936" y="3098105"/>
            <a:ext cx="195069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Highlight top-rated and best-selling products in campaigns.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31419" y="2317055"/>
            <a:ext cx="8194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31419" y="2565995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2" name="Text 20"/>
          <p:cNvSpPr/>
          <p:nvPr/>
        </p:nvSpPr>
        <p:spPr>
          <a:xfrm>
            <a:off x="9631419" y="2691705"/>
            <a:ext cx="195069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Target precisely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31419" y="3098105"/>
            <a:ext cx="195069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 efforts on high-revenue age groups and Express-shipping users.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585" y="4282777"/>
            <a:ext cx="10972526" cy="6552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09585" y="4485977"/>
            <a:ext cx="109725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Prioritize loyalty and subscription growth, then use product, age, shipping, and discount signals to sharpen targeting.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5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507301" y="6466086"/>
            <a:ext cx="6843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2026-10-04T12:40:13Z</dcterms:created>
  <dcterms:modified xsi:type="dcterms:W3CDTF">2026-10-04T12:40:13Z</dcterms:modified>
</cp:coreProperties>
</file>